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Volume ($K)</c:v>
                </c:pt>
              </c:strCache>
            </c:strRef>
          </c:tx>
          <c:spPr>
            <a:solidFill>
              <a:srgbClr val="E07A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M1</c:v>
                  </c:pt>
                  <c:pt idx="1">
                    <c:v>M2</c:v>
                  </c:pt>
                  <c:pt idx="2">
                    <c:v>M3</c:v>
                  </c:pt>
                  <c:pt idx="3">
                    <c:v>M4</c:v>
                  </c:pt>
                  <c:pt idx="4">
                    <c:v>M5</c:v>
                  </c:pt>
                  <c:pt idx="5">
                    <c:v>M6</c:v>
                  </c:pt>
                  <c:pt idx="6">
                    <c:v>M7</c:v>
                  </c:pt>
                  <c:pt idx="7">
                    <c:v>M8</c:v>
                  </c:pt>
                  <c:pt idx="8">
                    <c:v>M9</c:v>
                  </c:pt>
                  <c:pt idx="9">
                    <c:v>M10</c:v>
                  </c:pt>
                  <c:pt idx="10">
                    <c:v>M11</c:v>
                  </c:pt>
                  <c:pt idx="11">
                    <c:v>M12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50</c:v>
                </c:pt>
                <c:pt idx="1">
                  <c:v>75</c:v>
                </c:pt>
                <c:pt idx="2">
                  <c:v>120</c:v>
                </c:pt>
                <c:pt idx="3">
                  <c:v>180</c:v>
                </c:pt>
                <c:pt idx="4">
                  <c:v>270</c:v>
                </c:pt>
                <c:pt idx="5">
                  <c:v>400</c:v>
                </c:pt>
                <c:pt idx="6">
                  <c:v>500</c:v>
                </c:pt>
                <c:pt idx="7">
                  <c:v>600</c:v>
                </c:pt>
                <c:pt idx="8">
                  <c:v>700</c:v>
                </c:pt>
                <c:pt idx="9">
                  <c:v>750</c:v>
                </c:pt>
                <c:pt idx="10">
                  <c:v>750</c:v>
                </c:pt>
                <c:pt idx="11">
                  <c:v>650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B0ACA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B0ACA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62A36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07A5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9080" y="82296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011680"/>
            <a:ext cx="7680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if sending money home</a:t>
            </a:r>
            <a:endParaRPr lang="en-US" sz="3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 as easy as sending an email?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731520" y="33832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F2C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Remittance Pro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AC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agnostic payout protocol for global value transfer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07A5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3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question worth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$600 Billion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1371600" y="21031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 across borders every year — and the people who need it most</a:t>
            </a:r>
            <a:endParaRPr lang="en-US" sz="16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the highest price to move it.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3108960"/>
            <a:ext cx="22860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3080" y="32918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703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6.5%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822960" y="41605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global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remittance fee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29000" y="3108960"/>
            <a:ext cx="22860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329184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29000" y="3703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1.4B</a:t>
            </a:r>
            <a:endParaRPr lang="en-US" sz="2600" dirty="0"/>
          </a:p>
        </p:txBody>
      </p:sp>
      <p:sp>
        <p:nvSpPr>
          <p:cNvPr id="12" name="Text 8"/>
          <p:cNvSpPr/>
          <p:nvPr/>
        </p:nvSpPr>
        <p:spPr>
          <a:xfrm>
            <a:off x="3429000" y="41605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Adults without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accounts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035040" y="3108960"/>
            <a:ext cx="22860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329184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035040" y="3703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2-5 days</a:t>
            </a:r>
            <a:endParaRPr lang="en-US" sz="2600" dirty="0"/>
          </a:p>
        </p:txBody>
      </p:sp>
      <p:sp>
        <p:nvSpPr>
          <p:cNvPr id="16" name="Text 11"/>
          <p:cNvSpPr/>
          <p:nvPr/>
        </p:nvSpPr>
        <p:spPr>
          <a:xfrm>
            <a:off x="6035040" y="41605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settlement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(bank wire)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457200" y="4846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0AC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World Bank, 2024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Meet Maria.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Filipino caregiver in Los Angeles. Sends $200 every month to her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67-year-old mother in rural Luzon.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365760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20240"/>
            <a:ext cx="3657600" cy="411480"/>
          </a:xfrm>
          <a:prstGeom prst="rect">
            <a:avLst/>
          </a:prstGeom>
          <a:solidFill>
            <a:srgbClr val="D4534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202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Western Union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2514600"/>
            <a:ext cx="29260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D4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$16-24 in fees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(8-12% of her transfer)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days to arrive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Mother travels 45 min to pickup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an unsafe area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920240"/>
            <a:ext cx="365760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920240"/>
            <a:ext cx="3657600" cy="411480"/>
          </a:xfrm>
          <a:prstGeom prst="rect">
            <a:avLst/>
          </a:prstGeom>
          <a:solidFill>
            <a:srgbClr val="3D8B7A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9202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Email Remittance Pro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120640" y="2514600"/>
            <a:ext cx="29260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3D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 fee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(1.5% — saves $13-21 every month)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delivery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Mother clicks email link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SM Store gift card — done.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47091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 keeps $156-252 more per year. Her mother never leaves home.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friction nobody talks about.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B0AC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can move money in seconds. But you can't send crypto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B0AC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someone who doesn't have a wallet.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371600" y="1920240"/>
            <a:ext cx="6400800" cy="365760"/>
          </a:xfrm>
          <a:prstGeom prst="rect">
            <a:avLst/>
          </a:prstGeom>
          <a:solidFill>
            <a:srgbClr val="3D8B7A"/>
          </a:solidFill>
          <a:ln/>
        </p:spPr>
      </p:sp>
      <p:sp>
        <p:nvSpPr>
          <p:cNvPr id="5" name="Text 3"/>
          <p:cNvSpPr/>
          <p:nvPr/>
        </p:nvSpPr>
        <p:spPr>
          <a:xfrm>
            <a:off x="1463040" y="19202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wallet app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955280" y="19202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leave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371600" y="2395728"/>
            <a:ext cx="5760720" cy="365760"/>
          </a:xfrm>
          <a:prstGeom prst="rect">
            <a:avLst/>
          </a:prstGeom>
          <a:solidFill>
            <a:srgbClr val="3D8B7A">
              <a:alpha val="9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2395728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seed phrase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0" y="239572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leave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371600" y="2871216"/>
            <a:ext cx="3840480" cy="365760"/>
          </a:xfrm>
          <a:prstGeom prst="rect">
            <a:avLst/>
          </a:prstGeom>
          <a:solidFill>
            <a:srgbClr val="3D8B7A">
              <a:alpha val="8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463040" y="287121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gas fees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94960" y="287121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leave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371600" y="3346704"/>
            <a:ext cx="2286000" cy="365760"/>
          </a:xfrm>
          <a:prstGeom prst="rect">
            <a:avLst/>
          </a:prstGeom>
          <a:solidFill>
            <a:srgbClr val="3D8B7A">
              <a:alpha val="7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463040" y="334670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exchange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40480" y="334670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leave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371600" y="3822192"/>
            <a:ext cx="2286000" cy="365760"/>
          </a:xfrm>
          <a:prstGeom prst="rect">
            <a:avLst/>
          </a:prstGeom>
          <a:solidFill>
            <a:srgbClr val="D4534B">
              <a:alpha val="6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463040" y="382219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 use the crypto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42976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C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70-90% of recipients drop off before they can use crypto.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3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if the recipient could choose?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link. Two options. Zero friction.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365760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463040"/>
            <a:ext cx="64008" cy="3108960"/>
          </a:xfrm>
          <a:prstGeom prst="rect">
            <a:avLst/>
          </a:prstGeom>
          <a:solidFill>
            <a:srgbClr val="E07A5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73736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17830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Gift Card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188720" y="2468880"/>
            <a:ext cx="28346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Amazon, Visa, Walmart, and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1,000+ retailers worldwide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wallet. No bank. No crypto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required.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Claimed in 30 seconds.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754880" y="1463040"/>
            <a:ext cx="365760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463040"/>
            <a:ext cx="64008" cy="3108960"/>
          </a:xfrm>
          <a:prstGeom prst="rect">
            <a:avLst/>
          </a:prstGeom>
          <a:solidFill>
            <a:srgbClr val="3D8B7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73736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852160" y="17830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Crypto Wallet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5212080" y="2468880"/>
            <a:ext cx="28346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wallet, exportable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MetaMask or any app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crypto ownership for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users.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3D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Instant, on-chain.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731520" y="46634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sender picks the amount. The recipient picks the format.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steps. That's it.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265176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554480" y="1463040"/>
            <a:ext cx="640080" cy="640080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5" name="Text 3"/>
          <p:cNvSpPr/>
          <p:nvPr/>
        </p:nvSpPr>
        <p:spPr>
          <a:xfrm>
            <a:off x="1554480" y="1463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228600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1089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 enters email + amount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356616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wallet or use service mode.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CELO, ETH, or MON.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 move to smart contract escrow.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429000" y="1188720"/>
            <a:ext cx="265176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34840" y="1463040"/>
            <a:ext cx="640080" cy="640080"/>
          </a:xfrm>
          <a:prstGeom prst="ellipse">
            <a:avLst/>
          </a:prstGeom>
          <a:solidFill>
            <a:srgbClr val="3D8B7A"/>
          </a:solidFill>
          <a:ln/>
        </p:spPr>
      </p:sp>
      <p:sp>
        <p:nvSpPr>
          <p:cNvPr id="11" name="Text 8"/>
          <p:cNvSpPr/>
          <p:nvPr/>
        </p:nvSpPr>
        <p:spPr>
          <a:xfrm>
            <a:off x="4434840" y="1463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2286000"/>
            <a:ext cx="640080" cy="6400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11880" y="31089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validates instantly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611880" y="356616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Venice AI fraud analysis (zero data retention).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 Protocol policy enforcement.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delivered to recipient.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309360" y="1188720"/>
            <a:ext cx="265176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315200" y="1463040"/>
            <a:ext cx="640080" cy="640080"/>
          </a:xfrm>
          <a:prstGeom prst="ellipse">
            <a:avLst/>
          </a:prstGeom>
          <a:solidFill>
            <a:srgbClr val="F2CC8F"/>
          </a:solidFill>
          <a:ln/>
        </p:spPr>
      </p:sp>
      <p:sp>
        <p:nvSpPr>
          <p:cNvPr id="17" name="Text 13"/>
          <p:cNvSpPr/>
          <p:nvPr/>
        </p:nvSpPr>
        <p:spPr>
          <a:xfrm>
            <a:off x="7315200" y="1463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2286000"/>
            <a:ext cx="640080" cy="6400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92240" y="31089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Recipient claims in 30 seconds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92240" y="356616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link in email.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gift card or crypto wallet.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delivered immediately.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731520" y="47091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0AC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 escrow — sender can reclaim after 30 days if unclaimed. No custodial risk.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economics speak for themselves.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2CC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1.5%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AC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fee on every transfer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754880" y="11887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78%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4754880" y="2011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AC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per transaction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606040"/>
          <a:ext cx="7680960" cy="2011680"/>
        </p:xfrm>
        <a:graphic>
          <a:graphicData uri="http://schemas.openxmlformats.org/drawingml/2006/table">
            <a:tbl>
              <a:tblPr/>
              <a:tblGrid>
                <a:gridCol w="5943600"/>
                <a:gridCol w="1737360"/>
              </a:tblGrid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2CC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$100 Transaction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2CC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(1.5% fee)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3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2CC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3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0AC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Blockchain gas (Celo)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3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B0AC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-$0.001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3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0AC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Gift card API fee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3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B0AC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-$0.30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3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0AC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fraud check + infra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3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B0AC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-$0.03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36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07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Profit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4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E07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40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731520" y="47091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0AC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at ~420 transactions/day — roughly $50K daily volume.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3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 demand lives.</a:t>
            </a:r>
            <a:endParaRPr lang="en-US" sz="3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320040"/>
            <a:ext cx="502920" cy="502920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97280"/>
          <a:ext cx="7680960" cy="2103120"/>
        </p:xfrm>
        <a:graphic>
          <a:graphicData uri="http://schemas.openxmlformats.org/drawingml/2006/table">
            <a:tbl>
              <a:tblPr/>
              <a:tblGrid>
                <a:gridCol w="1554480"/>
                <a:gridCol w="1188720"/>
                <a:gridCol w="914400"/>
                <a:gridCol w="1097280"/>
                <a:gridCol w="2926080"/>
              </a:tblGrid>
              <a:tr h="350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Corridor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Volume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Fee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Edge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Gift Cards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→ Mexico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$63B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D8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Save 3.7%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Walmart, Oxxo, Soriana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UAE → India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D8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Save 2.3%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 IN, Flipkart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→ Philippines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D8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Save 3.0%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 Store, Globe Load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Saudi → Pakistan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D8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Save 2.5%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Daraz, Foodpanda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UK → Nigeria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$6.5B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D8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Save 5.6%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Jumia, MTN Airtime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731520" y="3520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Opportunity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731520" y="3977640"/>
            <a:ext cx="2514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251960"/>
            <a:ext cx="411480" cy="41148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417320" y="40690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DAOs &amp; Treasuries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1417320" y="43891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Bounty payouts to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contributors</a:t>
            </a:r>
            <a:endParaRPr lang="en-US" sz="1000" dirty="0"/>
          </a:p>
        </p:txBody>
      </p:sp>
      <p:sp>
        <p:nvSpPr>
          <p:cNvPr id="10" name="Shape 5"/>
          <p:cNvSpPr/>
          <p:nvPr/>
        </p:nvSpPr>
        <p:spPr>
          <a:xfrm>
            <a:off x="3520440" y="3977640"/>
            <a:ext cx="2514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320" y="4251960"/>
            <a:ext cx="411480" cy="41148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206240" y="40690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Platforms</a:t>
            </a:r>
            <a:endParaRPr lang="en-US" sz="1200" dirty="0"/>
          </a:p>
        </p:txBody>
      </p:sp>
      <p:sp>
        <p:nvSpPr>
          <p:cNvPr id="13" name="Text 7"/>
          <p:cNvSpPr/>
          <p:nvPr/>
        </p:nvSpPr>
        <p:spPr>
          <a:xfrm>
            <a:off x="4206240" y="43891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salary offramp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remote workers</a:t>
            </a:r>
            <a:endParaRPr lang="en-US" sz="1000" dirty="0"/>
          </a:p>
        </p:txBody>
      </p:sp>
      <p:sp>
        <p:nvSpPr>
          <p:cNvPr id="14" name="Shape 8"/>
          <p:cNvSpPr/>
          <p:nvPr/>
        </p:nvSpPr>
        <p:spPr>
          <a:xfrm>
            <a:off x="6309360" y="3977640"/>
            <a:ext cx="2514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4251960"/>
            <a:ext cx="411480" cy="41148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995160" y="40690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 Platforms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6995160" y="43891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Gift card payouts for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non-crypto talent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Built. Deployed. Verified.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whitepaper. Not a prototype. Live on mainnet.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3657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55448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Chains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560320" y="155448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Celo, Base, Monad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&amp; verified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554480"/>
            <a:ext cx="3657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0" y="155448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8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150 Tests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583680" y="155448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test suite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926080"/>
            <a:ext cx="3657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05840" y="292608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CC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72 Hours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560320" y="292608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built by autonomous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(Titan)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926080"/>
            <a:ext cx="3657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0" y="292608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Mainnet Live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583680" y="292608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real transactions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Celo mainnet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4389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46634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AC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API   |   Solidity Smart Contracts   |   Self Protocol (ZK ID)   |   Venice AI (Private Fraud Detection)   |   Mandate Protocol (Policy)   |   Resend (Email)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path to $5M processed.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AC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value flowing through the protocol — not revenue, not profit.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731520" y="1371600"/>
          <a:ext cx="50292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217920" y="1463040"/>
            <a:ext cx="2377440" cy="594360"/>
          </a:xfrm>
          <a:prstGeom prst="rect">
            <a:avLst/>
          </a:prstGeom>
          <a:solidFill>
            <a:srgbClr val="162A36"/>
          </a:solidFill>
          <a:ln/>
        </p:spPr>
      </p:sp>
      <p:sp>
        <p:nvSpPr>
          <p:cNvPr id="6" name="Shape 3"/>
          <p:cNvSpPr/>
          <p:nvPr/>
        </p:nvSpPr>
        <p:spPr>
          <a:xfrm>
            <a:off x="6217920" y="1463040"/>
            <a:ext cx="54864" cy="59436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7" name="Text 4"/>
          <p:cNvSpPr/>
          <p:nvPr/>
        </p:nvSpPr>
        <p:spPr>
          <a:xfrm>
            <a:off x="6446520" y="1463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F2C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46520" y="17190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0AC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$245K cumulative — 3 corridors active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217920" y="2212848"/>
            <a:ext cx="2377440" cy="594360"/>
          </a:xfrm>
          <a:prstGeom prst="rect">
            <a:avLst/>
          </a:prstGeom>
          <a:solidFill>
            <a:srgbClr val="162A36"/>
          </a:solidFill>
          <a:ln/>
        </p:spPr>
      </p:sp>
      <p:sp>
        <p:nvSpPr>
          <p:cNvPr id="10" name="Shape 7"/>
          <p:cNvSpPr/>
          <p:nvPr/>
        </p:nvSpPr>
        <p:spPr>
          <a:xfrm>
            <a:off x="6217920" y="2212848"/>
            <a:ext cx="54864" cy="59436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11" name="Text 8"/>
          <p:cNvSpPr/>
          <p:nvPr/>
        </p:nvSpPr>
        <p:spPr>
          <a:xfrm>
            <a:off x="6446520" y="22128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F2C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6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446520" y="2468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0AC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$1.1M cumulative — First B2B partner signed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217920" y="2962656"/>
            <a:ext cx="2377440" cy="594360"/>
          </a:xfrm>
          <a:prstGeom prst="rect">
            <a:avLst/>
          </a:prstGeom>
          <a:solidFill>
            <a:srgbClr val="162A36"/>
          </a:solidFill>
          <a:ln/>
        </p:spPr>
      </p:sp>
      <p:sp>
        <p:nvSpPr>
          <p:cNvPr id="14" name="Shape 11"/>
          <p:cNvSpPr/>
          <p:nvPr/>
        </p:nvSpPr>
        <p:spPr>
          <a:xfrm>
            <a:off x="6217920" y="2962656"/>
            <a:ext cx="54864" cy="59436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15" name="Text 12"/>
          <p:cNvSpPr/>
          <p:nvPr/>
        </p:nvSpPr>
        <p:spPr>
          <a:xfrm>
            <a:off x="6446520" y="29626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F2C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9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446520" y="32186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0AC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$2.9M cumulative — Break-even crossed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217920" y="3712464"/>
            <a:ext cx="2377440" cy="594360"/>
          </a:xfrm>
          <a:prstGeom prst="rect">
            <a:avLst/>
          </a:prstGeom>
          <a:solidFill>
            <a:srgbClr val="162A36"/>
          </a:solidFill>
          <a:ln/>
        </p:spPr>
      </p:sp>
      <p:sp>
        <p:nvSpPr>
          <p:cNvPr id="18" name="Shape 15"/>
          <p:cNvSpPr/>
          <p:nvPr/>
        </p:nvSpPr>
        <p:spPr>
          <a:xfrm>
            <a:off x="6217920" y="3712464"/>
            <a:ext cx="54864" cy="594360"/>
          </a:xfrm>
          <a:prstGeom prst="rect">
            <a:avLst/>
          </a:prstGeom>
          <a:solidFill>
            <a:srgbClr val="F2CC8F"/>
          </a:solidFill>
          <a:ln/>
        </p:spPr>
      </p:sp>
      <p:sp>
        <p:nvSpPr>
          <p:cNvPr id="19" name="Text 16"/>
          <p:cNvSpPr/>
          <p:nvPr/>
        </p:nvSpPr>
        <p:spPr>
          <a:xfrm>
            <a:off x="6446520" y="37124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F2C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12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446520" y="39684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0AC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$5.0M cumulative — Goal achieved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731520" y="45720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0AC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model: $150 avg transaction, 40%+ MoM growth tapering to sustain.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3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Who's building this.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6576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188720"/>
            <a:ext cx="3657600" cy="4572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C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 — AI Agent</a:t>
            </a: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0280" y="182880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25603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Founder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97280" y="292608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 MVP autonomously in 72 hours</a:t>
            </a:r>
            <a:endParaRPr lang="en-US" sz="11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ERC-8004 on-chain identity verified</a:t>
            </a:r>
            <a:endParaRPr lang="en-US" sz="11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orchestration specialist</a:t>
            </a:r>
            <a:endParaRPr lang="en-US" sz="11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B0AC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FID: 3083838 (Farcaster)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1188720"/>
            <a:ext cx="36576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188720"/>
            <a:ext cx="3657600" cy="4572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11" name="Text 8"/>
          <p:cNvSpPr/>
          <p:nvPr/>
        </p:nvSpPr>
        <p:spPr>
          <a:xfrm>
            <a:off x="4754880" y="1188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C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Deeks — Human</a:t>
            </a:r>
            <a:endParaRPr lang="en-US" sz="14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828800"/>
            <a:ext cx="640080" cy="6400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20640" y="25603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Strategy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120640" y="292608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developer, single father</a:t>
            </a:r>
            <a:endParaRPr lang="en-US" sz="11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ThinkPad, 3.7GB RAM, $0 budget</a:t>
            </a:r>
            <a:endParaRPr lang="en-US" sz="11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Prior: OpenClaw (multi-agent orchestration)</a:t>
            </a:r>
            <a:endParaRPr lang="en-US" sz="11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B0AC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ENS: drdeeks.base.eth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731520" y="42976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Resourcefulness is a feature, not a limitation.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07A5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640080"/>
            <a:ext cx="1188720" cy="1188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01168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280 million people live outside</a:t>
            </a:r>
            <a:endParaRPr lang="en-US" sz="28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their country of birth.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097280" y="301752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B0AC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them has someone back home waiting for support.</a:t>
            </a:r>
            <a:endParaRPr lang="en-US" sz="15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B0AC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making that support instant, affordable, and frictionless.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2286000" y="3794760"/>
            <a:ext cx="4572000" cy="960120"/>
          </a:xfrm>
          <a:prstGeom prst="rect">
            <a:avLst/>
          </a:prstGeom>
          <a:solidFill>
            <a:srgbClr val="162A36"/>
          </a:solidFill>
          <a:ln/>
        </p:spPr>
      </p:sp>
      <p:sp>
        <p:nvSpPr>
          <p:cNvPr id="7" name="Text 4"/>
          <p:cNvSpPr/>
          <p:nvPr/>
        </p:nvSpPr>
        <p:spPr>
          <a:xfrm>
            <a:off x="2286000" y="3794760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Remittance Pro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2C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titan_192@outlook.com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0AC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github.com/drdeeks/email-remittance-pro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07A5F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Email Remittance Pro — Pitch Deck</dc:title>
  <dc:subject>PptxGenJS Presentation</dc:subject>
  <dc:creator>Email Remittance Pro</dc:creator>
  <cp:lastModifiedBy>Email Remittance Pro</cp:lastModifiedBy>
  <cp:revision>1</cp:revision>
  <dcterms:created xsi:type="dcterms:W3CDTF">2026-05-19T19:47:37Z</dcterms:created>
  <dcterms:modified xsi:type="dcterms:W3CDTF">2026-05-19T19:47:37Z</dcterms:modified>
</cp:coreProperties>
</file>